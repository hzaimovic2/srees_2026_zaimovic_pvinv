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 Bold" charset="1" panose="00000800000000000000"/>
      <p:regular r:id="rId13"/>
    </p:embeddedFont>
    <p:embeddedFont>
      <p:font typeface="Noto Serif Display ExtraCondensed Light Italics" charset="1" panose="02020406080505090204"/>
      <p:regular r:id="rId14"/>
    </p:embeddedFont>
    <p:embeddedFont>
      <p:font typeface="Open Sauce Italics" charset="1" panose="00000500000000000000"/>
      <p:regular r:id="rId15"/>
    </p:embeddedFont>
    <p:embeddedFont>
      <p:font typeface="Open Sauce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85370" y="302786"/>
            <a:ext cx="1446790" cy="1446790"/>
          </a:xfrm>
          <a:custGeom>
            <a:avLst/>
            <a:gdLst/>
            <a:ahLst/>
            <a:cxnLst/>
            <a:rect r="r" b="b" t="t" l="l"/>
            <a:pathLst>
              <a:path h="1446790" w="1446790">
                <a:moveTo>
                  <a:pt x="0" y="0"/>
                </a:moveTo>
                <a:lnTo>
                  <a:pt x="1446790" y="0"/>
                </a:lnTo>
                <a:lnTo>
                  <a:pt x="1446790" y="1446789"/>
                </a:lnTo>
                <a:lnTo>
                  <a:pt x="0" y="1446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5928" y="2569426"/>
            <a:ext cx="6224415" cy="260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7"/>
              </a:lnSpc>
              <a:spcBef>
                <a:spcPct val="0"/>
              </a:spcBef>
            </a:pPr>
            <a:r>
              <a:rPr lang="en-US" b="true" sz="15169" spc="-1729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Solarna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29660" y="4946359"/>
            <a:ext cx="6627323" cy="322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8"/>
              </a:lnSpc>
              <a:spcBef>
                <a:spcPct val="0"/>
              </a:spcBef>
            </a:pPr>
            <a:r>
              <a:rPr lang="en-US" sz="18898" i="true" spc="-1549">
                <a:solidFill>
                  <a:srgbClr val="006233"/>
                </a:solidFill>
                <a:latin typeface="Noto Serif Display ExtraCondensed Light Italics"/>
                <a:ea typeface="Noto Serif Display ExtraCondensed Light Italics"/>
                <a:cs typeface="Noto Serif Display ExtraCondensed Light Italics"/>
                <a:sym typeface="Noto Serif Display ExtraCondensed Light Italics"/>
              </a:rPr>
              <a:t>+inverter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47822" y="4135840"/>
            <a:ext cx="7422010" cy="2605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7"/>
              </a:lnSpc>
              <a:spcBef>
                <a:spcPct val="0"/>
              </a:spcBef>
            </a:pPr>
            <a:r>
              <a:rPr lang="en-US" b="true" sz="15169" spc="-1729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Elektrana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106" y="639939"/>
            <a:ext cx="4735889" cy="81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112" b="true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Univerzitet u Sarajevu </a:t>
            </a:r>
          </a:p>
          <a:p>
            <a:pPr algn="l">
              <a:lnSpc>
                <a:spcPts val="2240"/>
              </a:lnSpc>
            </a:pPr>
            <a:r>
              <a:rPr lang="en-US" sz="1600" spc="-112" b="true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Elektrotehnički fakultet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b="true" sz="1600" spc="-112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Sistemi i režimi rada elektroenergetskih 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84506" y="9572022"/>
            <a:ext cx="224765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 spc="-53">
                <a:solidFill>
                  <a:srgbClr val="00623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Hana Zaimović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46606" y="108120"/>
            <a:ext cx="9672444" cy="239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9"/>
              </a:lnSpc>
              <a:spcBef>
                <a:spcPct val="0"/>
              </a:spcBef>
            </a:pPr>
            <a:r>
              <a:rPr lang="en-US" b="true" sz="13892" spc="-1583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projekta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7330" y="-121241"/>
            <a:ext cx="5177912" cy="281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71"/>
              </a:lnSpc>
              <a:spcBef>
                <a:spcPct val="0"/>
              </a:spcBef>
            </a:pPr>
            <a:r>
              <a:rPr lang="en-US" sz="16408" i="true" spc="-1345">
                <a:solidFill>
                  <a:srgbClr val="006233"/>
                </a:solidFill>
                <a:latin typeface="Noto Serif Display ExtraCondensed Light Italics"/>
                <a:ea typeface="Noto Serif Display ExtraCondensed Light Italics"/>
                <a:cs typeface="Noto Serif Display ExtraCondensed Light Italics"/>
                <a:sym typeface="Noto Serif Display ExtraCondensed Light Italics"/>
              </a:rPr>
              <a:t>Ideja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83127" y="1028700"/>
            <a:ext cx="5507113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XML</a:t>
            </a:r>
            <a:r>
              <a:rPr lang="en-US" sz="2499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konfiguracija</a:t>
            </a:r>
          </a:p>
          <a:p>
            <a:pPr algn="l">
              <a:lnSpc>
                <a:spcPts val="2999"/>
              </a:lnSpc>
            </a:pPr>
            <a:r>
              <a:rPr lang="en-US" sz="2499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GUI plugin</a:t>
            </a:r>
          </a:p>
          <a:p>
            <a:pPr algn="l">
              <a:lnSpc>
                <a:spcPts val="2999"/>
              </a:lnSpc>
            </a:pPr>
            <a:r>
              <a:rPr lang="en-US" sz="2499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Preview proračun</a:t>
            </a:r>
          </a:p>
          <a:p>
            <a:pPr algn="l">
              <a:lnSpc>
                <a:spcPts val="2999"/>
              </a:lnSpc>
            </a:pPr>
            <a:r>
              <a:rPr lang="en-US" sz="2499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Generisanje dTwin modela</a:t>
            </a:r>
          </a:p>
          <a:p>
            <a:pPr algn="l">
              <a:lnSpc>
                <a:spcPts val="2999"/>
              </a:lnSpc>
            </a:pPr>
            <a:r>
              <a:rPr lang="en-US" sz="2499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Grafovi nakon Solve komande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86286" y="5879518"/>
            <a:ext cx="6440764" cy="239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9"/>
              </a:lnSpc>
              <a:spcBef>
                <a:spcPct val="0"/>
              </a:spcBef>
            </a:pPr>
            <a:r>
              <a:rPr lang="en-US" b="true" sz="13892" spc="-1583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Princip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68399" y="5458895"/>
            <a:ext cx="2842516" cy="281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71"/>
              </a:lnSpc>
              <a:spcBef>
                <a:spcPct val="0"/>
              </a:spcBef>
            </a:pPr>
            <a:r>
              <a:rPr lang="en-US" sz="16408" i="true" spc="-1345">
                <a:solidFill>
                  <a:srgbClr val="006233"/>
                </a:solidFill>
                <a:latin typeface="Noto Serif Display ExtraCondensed Light Italics"/>
                <a:ea typeface="Noto Serif Display ExtraCondensed Light Italics"/>
                <a:cs typeface="Noto Serif Display ExtraCondensed Light Italics"/>
                <a:sym typeface="Noto Serif Display ExtraCondensed Light Italics"/>
              </a:rPr>
              <a:t>rada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36465" y="7425519"/>
            <a:ext cx="13547463" cy="239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9"/>
              </a:lnSpc>
              <a:spcBef>
                <a:spcPct val="0"/>
              </a:spcBef>
            </a:pPr>
            <a:r>
              <a:rPr lang="en-US" b="true" sz="13892" spc="-1583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solarne elektrane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97760" y="3877526"/>
            <a:ext cx="15092481" cy="1474901"/>
          </a:xfrm>
          <a:custGeom>
            <a:avLst/>
            <a:gdLst/>
            <a:ahLst/>
            <a:cxnLst/>
            <a:rect r="r" b="b" t="t" l="l"/>
            <a:pathLst>
              <a:path h="1474901" w="15092481">
                <a:moveTo>
                  <a:pt x="0" y="0"/>
                </a:moveTo>
                <a:lnTo>
                  <a:pt x="15092480" y="0"/>
                </a:lnTo>
                <a:lnTo>
                  <a:pt x="15092480" y="1474901"/>
                </a:lnTo>
                <a:lnTo>
                  <a:pt x="0" y="147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666" y="4346954"/>
            <a:ext cx="8383953" cy="6067581"/>
          </a:xfrm>
          <a:custGeom>
            <a:avLst/>
            <a:gdLst/>
            <a:ahLst/>
            <a:cxnLst/>
            <a:rect r="r" b="b" t="t" l="l"/>
            <a:pathLst>
              <a:path h="6067581" w="8383953">
                <a:moveTo>
                  <a:pt x="0" y="0"/>
                </a:moveTo>
                <a:lnTo>
                  <a:pt x="8383953" y="0"/>
                </a:lnTo>
                <a:lnTo>
                  <a:pt x="8383953" y="6067581"/>
                </a:lnTo>
                <a:lnTo>
                  <a:pt x="0" y="6067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82760" y="2491046"/>
            <a:ext cx="7710155" cy="1513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40"/>
              </a:lnSpc>
            </a:pPr>
            <a:r>
              <a:rPr lang="en-US" sz="12904" spc="-1471" b="true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 dTwin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13045" y="3994"/>
            <a:ext cx="4838150" cy="261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8"/>
              </a:lnSpc>
              <a:spcBef>
                <a:spcPct val="0"/>
              </a:spcBef>
            </a:pPr>
            <a:r>
              <a:rPr lang="en-US" sz="15241" i="true" spc="-1249">
                <a:solidFill>
                  <a:srgbClr val="006233"/>
                </a:solidFill>
                <a:latin typeface="Noto Serif Display ExtraCondensed Light Italics"/>
                <a:ea typeface="Noto Serif Display ExtraCondensed Light Italics"/>
                <a:cs typeface="Noto Serif Display ExtraCondensed Light Italics"/>
                <a:sym typeface="Noto Serif Display ExtraCondensed Light Italics"/>
              </a:rPr>
              <a:t>plugin-a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3845" y="1105826"/>
            <a:ext cx="7179166" cy="1513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40"/>
              </a:lnSpc>
            </a:pPr>
            <a:r>
              <a:rPr lang="en-US" sz="12904" spc="-1471" b="true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Integracija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32119" y="5849611"/>
            <a:ext cx="5762271" cy="2637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2"/>
              </a:lnSpc>
            </a:pPr>
            <a:r>
              <a:rPr lang="en-US" sz="3560" spc="-106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Plugin se pokreće </a:t>
            </a:r>
            <a:r>
              <a:rPr lang="en-US" sz="3560" spc="-106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direktno iz dTwin okruženja</a:t>
            </a:r>
          </a:p>
          <a:p>
            <a:pPr algn="l">
              <a:lnSpc>
                <a:spcPts val="4272"/>
              </a:lnSpc>
            </a:pPr>
            <a:r>
              <a:rPr lang="en-US" sz="3560" spc="-106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Korisnik kroz GUI bira XML konfiguraciju, testni case, scenario i izlazni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32119" y="3553778"/>
            <a:ext cx="7204650" cy="45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2"/>
              </a:lnSpc>
            </a:pPr>
            <a:r>
              <a:rPr lang="en-US" sz="3044" spc="-9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Mod</a:t>
            </a:r>
            <a:r>
              <a:rPr lang="en-US" sz="3044" spc="-9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el → Import → PV inverter converter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756" y="2794227"/>
            <a:ext cx="12170058" cy="6959237"/>
          </a:xfrm>
          <a:custGeom>
            <a:avLst/>
            <a:gdLst/>
            <a:ahLst/>
            <a:cxnLst/>
            <a:rect r="r" b="b" t="t" l="l"/>
            <a:pathLst>
              <a:path h="6959237" w="12170058">
                <a:moveTo>
                  <a:pt x="0" y="0"/>
                </a:moveTo>
                <a:lnTo>
                  <a:pt x="12170058" y="0"/>
                </a:lnTo>
                <a:lnTo>
                  <a:pt x="12170058" y="6959237"/>
                </a:lnTo>
                <a:lnTo>
                  <a:pt x="0" y="6959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4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11448" y="2794227"/>
            <a:ext cx="172658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 spc="-89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Ulazi: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11448" y="3318102"/>
            <a:ext cx="422320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68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2299" spc="-68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nfig XML, Case XML, Output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11448" y="3737839"/>
            <a:ext cx="277339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 spc="-89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Podešavanja: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11448" y="4226254"/>
            <a:ext cx="466897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68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cas</a:t>
            </a:r>
            <a:r>
              <a:rPr lang="en-US" sz="2299" spc="-68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e, scenario, bus, G, T, PF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11448" y="6530088"/>
            <a:ext cx="4668974" cy="272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2"/>
              </a:lnSpc>
            </a:pPr>
            <a:r>
              <a:rPr lang="en-US" sz="3068" spc="-9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Preview računa rad</a:t>
            </a:r>
            <a:r>
              <a:rPr lang="en-US" sz="3068" spc="-9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nu tačku</a:t>
            </a:r>
          </a:p>
          <a:p>
            <a:pPr algn="l">
              <a:lnSpc>
                <a:spcPts val="3682"/>
              </a:lnSpc>
            </a:pPr>
            <a:r>
              <a:rPr lang="en-US" sz="3068" spc="-9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Convert generiše dTwin model</a:t>
            </a:r>
          </a:p>
          <a:p>
            <a:pPr algn="l">
              <a:lnSpc>
                <a:spcPts val="3682"/>
              </a:lnSpc>
            </a:pPr>
            <a:r>
              <a:rPr lang="en-US" sz="3068" spc="-9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Convert + p.u. dodaje normalizovani prikaz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6547" y="-94654"/>
            <a:ext cx="9027277" cy="27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40"/>
              </a:lnSpc>
              <a:spcBef>
                <a:spcPct val="0"/>
              </a:spcBef>
            </a:pPr>
            <a:r>
              <a:rPr lang="en-US" sz="15886" i="true" spc="-1302">
                <a:solidFill>
                  <a:srgbClr val="006233"/>
                </a:solidFill>
                <a:latin typeface="Noto Serif Display ExtraCondensed Light Italics"/>
                <a:ea typeface="Noto Serif Display ExtraCondensed Light Italics"/>
                <a:cs typeface="Noto Serif Display ExtraCondensed Light Italics"/>
                <a:sym typeface="Noto Serif Display ExtraCondensed Light Italics"/>
              </a:rPr>
              <a:t>i Tok rada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8756" y="1050919"/>
            <a:ext cx="2987791" cy="157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98"/>
              </a:lnSpc>
            </a:pPr>
            <a:r>
              <a:rPr lang="en-US" sz="13450" spc="-1533" b="true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11448" y="4607254"/>
            <a:ext cx="277339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 spc="-89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Akcije: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11448" y="5095669"/>
            <a:ext cx="466897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spc="-68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Previ</a:t>
            </a:r>
            <a:r>
              <a:rPr lang="en-US" sz="2299" spc="-68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ew, Convert, Convert + p.u.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0848" y="2654555"/>
            <a:ext cx="13084230" cy="7147261"/>
          </a:xfrm>
          <a:custGeom>
            <a:avLst/>
            <a:gdLst/>
            <a:ahLst/>
            <a:cxnLst/>
            <a:rect r="r" b="b" t="t" l="l"/>
            <a:pathLst>
              <a:path h="7147261" w="13084230">
                <a:moveTo>
                  <a:pt x="0" y="0"/>
                </a:moveTo>
                <a:lnTo>
                  <a:pt x="13084230" y="0"/>
                </a:lnTo>
                <a:lnTo>
                  <a:pt x="13084230" y="7147261"/>
                </a:lnTo>
                <a:lnTo>
                  <a:pt x="0" y="7147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75519" y="46351"/>
            <a:ext cx="7394683" cy="232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58"/>
              </a:lnSpc>
              <a:spcBef>
                <a:spcPct val="0"/>
              </a:spcBef>
            </a:pPr>
            <a:r>
              <a:rPr lang="en-US" sz="13612" i="true" spc="-1116">
                <a:solidFill>
                  <a:srgbClr val="006233"/>
                </a:solidFill>
                <a:latin typeface="Noto Serif Display ExtraCondensed Light Italics"/>
                <a:ea typeface="Noto Serif Display ExtraCondensed Light Italics"/>
                <a:cs typeface="Noto Serif Display ExtraCondensed Light Italics"/>
                <a:sym typeface="Noto Serif Display ExtraCondensed Light Italics"/>
              </a:rPr>
              <a:t>rezultati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7469" y="480334"/>
            <a:ext cx="9593749" cy="153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04"/>
              </a:lnSpc>
            </a:pPr>
            <a:r>
              <a:rPr lang="en-US" sz="12981" spc="-1479" b="true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Preview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08119" y="303526"/>
            <a:ext cx="7693934" cy="55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4"/>
              </a:lnSpc>
            </a:pPr>
            <a:r>
              <a:rPr lang="en-US" b="true" sz="3745" spc="-112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3745" spc="-112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ase30, bus 8, Cloudy scenario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55086" y="4170048"/>
            <a:ext cx="5826481" cy="285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739" spc="-8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G = 400 W/m²</a:t>
            </a:r>
          </a:p>
          <a:p>
            <a:pPr algn="l">
              <a:lnSpc>
                <a:spcPts val="3287"/>
              </a:lnSpc>
            </a:pPr>
            <a:r>
              <a:rPr lang="en-US" sz="2739" spc="-8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T = 20 °C</a:t>
            </a:r>
          </a:p>
          <a:p>
            <a:pPr algn="l">
              <a:lnSpc>
                <a:spcPts val="3287"/>
              </a:lnSpc>
            </a:pPr>
            <a:r>
              <a:rPr lang="en-US" sz="2739" spc="-8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PF</a:t>
            </a:r>
            <a:r>
              <a:rPr lang="en-US" sz="2739" spc="-8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= 0.95</a:t>
            </a:r>
          </a:p>
          <a:p>
            <a:pPr algn="l">
              <a:lnSpc>
                <a:spcPts val="3287"/>
              </a:lnSpc>
            </a:pPr>
            <a:r>
              <a:rPr lang="en-US" sz="2739" spc="-8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Pdc = 3.264 MW</a:t>
            </a:r>
          </a:p>
          <a:p>
            <a:pPr algn="l">
              <a:lnSpc>
                <a:spcPts val="3287"/>
              </a:lnSpc>
            </a:pPr>
            <a:r>
              <a:rPr lang="en-US" sz="2739" spc="-8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Pac = 3.264 MW</a:t>
            </a:r>
          </a:p>
          <a:p>
            <a:pPr algn="l">
              <a:lnSpc>
                <a:spcPts val="3287"/>
              </a:lnSpc>
            </a:pPr>
            <a:r>
              <a:rPr lang="en-US" sz="2739" spc="-8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Qac = 1.073 MVAr</a:t>
            </a:r>
          </a:p>
          <a:p>
            <a:pPr algn="l">
              <a:lnSpc>
                <a:spcPts val="328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655086" y="7809622"/>
            <a:ext cx="3194244" cy="163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739" spc="-8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Odabrani bus je </a:t>
            </a:r>
            <a:r>
              <a:rPr lang="en-US" sz="2739" spc="-82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PQ/load tipa i validacija je uspješna.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5245" y="4359562"/>
            <a:ext cx="9104099" cy="5428319"/>
          </a:xfrm>
          <a:custGeom>
            <a:avLst/>
            <a:gdLst/>
            <a:ahLst/>
            <a:cxnLst/>
            <a:rect r="r" b="b" t="t" l="l"/>
            <a:pathLst>
              <a:path h="5428319" w="9104099">
                <a:moveTo>
                  <a:pt x="0" y="0"/>
                </a:moveTo>
                <a:lnTo>
                  <a:pt x="9104099" y="0"/>
                </a:lnTo>
                <a:lnTo>
                  <a:pt x="9104099" y="5428318"/>
                </a:lnTo>
                <a:lnTo>
                  <a:pt x="0" y="542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19408" y="5700446"/>
            <a:ext cx="4989028" cy="3945329"/>
          </a:xfrm>
          <a:custGeom>
            <a:avLst/>
            <a:gdLst/>
            <a:ahLst/>
            <a:cxnLst/>
            <a:rect r="r" b="b" t="t" l="l"/>
            <a:pathLst>
              <a:path h="3945329" w="4989028">
                <a:moveTo>
                  <a:pt x="0" y="0"/>
                </a:moveTo>
                <a:lnTo>
                  <a:pt x="4989028" y="0"/>
                </a:lnTo>
                <a:lnTo>
                  <a:pt x="4989028" y="3945329"/>
                </a:lnTo>
                <a:lnTo>
                  <a:pt x="0" y="3945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04701" y="2295902"/>
            <a:ext cx="12997958" cy="164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9"/>
              </a:lnSpc>
            </a:pPr>
            <a:r>
              <a:rPr lang="en-US" sz="13892" spc="-1583" b="true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i simulacija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756" y="730229"/>
            <a:ext cx="13034927" cy="164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9"/>
              </a:lnSpc>
            </a:pPr>
            <a:r>
              <a:rPr lang="en-US" sz="13892" spc="-1583" b="true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Generisani dTwin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47163" y="3664894"/>
            <a:ext cx="8155073" cy="55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7"/>
              </a:lnSpc>
            </a:pPr>
            <a:r>
              <a:rPr lang="en-US" b="true" sz="3706" spc="-111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Din</a:t>
            </a:r>
            <a:r>
              <a:rPr lang="en-US" b="true" sz="3706" spc="-111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amički DAE model prvog reda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19408" y="4401542"/>
            <a:ext cx="5648549" cy="111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494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Pac prati </a:t>
            </a:r>
            <a:r>
              <a:rPr lang="en-US" sz="2494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ref</a:t>
            </a:r>
            <a:r>
              <a:rPr lang="en-US" sz="2494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erentnu aktivnu sn</a:t>
            </a:r>
            <a:r>
              <a:rPr lang="en-US" sz="2494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agu</a:t>
            </a:r>
          </a:p>
          <a:p>
            <a:pPr algn="l">
              <a:lnSpc>
                <a:spcPts val="2993"/>
              </a:lnSpc>
            </a:pPr>
            <a:r>
              <a:rPr lang="en-US" sz="2494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Qac prati referentnu reaktivnu snagu</a:t>
            </a:r>
          </a:p>
          <a:p>
            <a:pPr algn="l">
              <a:lnSpc>
                <a:spcPts val="2993"/>
              </a:lnSpc>
            </a:pPr>
            <a:r>
              <a:rPr lang="en-US" sz="2494" spc="-74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Pdc prati dostupnu DC snagu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05037" y="235282"/>
            <a:ext cx="9431953" cy="6920695"/>
          </a:xfrm>
          <a:custGeom>
            <a:avLst/>
            <a:gdLst/>
            <a:ahLst/>
            <a:cxnLst/>
            <a:rect r="r" b="b" t="t" l="l"/>
            <a:pathLst>
              <a:path h="6920695" w="9431953">
                <a:moveTo>
                  <a:pt x="0" y="0"/>
                </a:moveTo>
                <a:lnTo>
                  <a:pt x="9431953" y="0"/>
                </a:lnTo>
                <a:lnTo>
                  <a:pt x="9431953" y="6920695"/>
                </a:lnTo>
                <a:lnTo>
                  <a:pt x="0" y="6920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79501" y="7595302"/>
            <a:ext cx="7691438" cy="234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03"/>
              </a:lnSpc>
              <a:spcBef>
                <a:spcPct val="0"/>
              </a:spcBef>
            </a:pPr>
            <a:r>
              <a:rPr lang="en-US" sz="13645" i="true" spc="-1118">
                <a:solidFill>
                  <a:srgbClr val="006233"/>
                </a:solidFill>
                <a:latin typeface="Noto Serif Display ExtraCondensed Light Italics"/>
                <a:ea typeface="Noto Serif Display ExtraCondensed Light Italics"/>
                <a:cs typeface="Noto Serif Display ExtraCondensed Light Italics"/>
                <a:sym typeface="Noto Serif Display ExtraCondensed Light Italics"/>
              </a:rPr>
              <a:t>i zaključak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69990" y="7364753"/>
            <a:ext cx="10492303" cy="139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8"/>
              </a:lnSpc>
            </a:pPr>
            <a:r>
              <a:rPr lang="en-US" sz="11807" spc="-1346" b="true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Rezultati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34143" y="1135324"/>
            <a:ext cx="239188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b="true" sz="3000" spc="-89">
                <a:solidFill>
                  <a:srgbClr val="00623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Realizovano: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30649"/>
            <a:ext cx="7250801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XML konfiguracija</a:t>
            </a:r>
          </a:p>
          <a:p>
            <a:pPr algn="r">
              <a:lnSpc>
                <a:spcPts val="3240"/>
              </a:lnSpc>
            </a:pP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dTwin import plugin</a:t>
            </a:r>
          </a:p>
          <a:p>
            <a:pPr algn="r">
              <a:lnSpc>
                <a:spcPts val="3240"/>
              </a:lnSpc>
            </a:pP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izbor case-a i bus-a</a:t>
            </a:r>
          </a:p>
          <a:p>
            <a:pPr algn="r">
              <a:lnSpc>
                <a:spcPts val="3240"/>
              </a:lnSpc>
            </a:pP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mo</a:t>
            </a: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del PV i</a:t>
            </a: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nvertera</a:t>
            </a:r>
          </a:p>
          <a:p>
            <a:pPr algn="r">
              <a:lnSpc>
                <a:spcPts val="3240"/>
              </a:lnSpc>
            </a:pP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dTwin DAE model</a:t>
            </a:r>
          </a:p>
          <a:p>
            <a:pPr algn="r">
              <a:lnSpc>
                <a:spcPts val="3240"/>
              </a:lnSpc>
            </a:pP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grafovi u MW/MVAr i p.u.</a:t>
            </a:r>
          </a:p>
          <a:p>
            <a:pPr algn="r">
              <a:lnSpc>
                <a:spcPts val="3240"/>
              </a:lnSpc>
            </a:pP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 n</a:t>
            </a: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atID dense/sparse backend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2168" y="4912026"/>
            <a:ext cx="742733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Projekat prikazuje kompletan tok od konfiguracije PV invertera do gen</a:t>
            </a: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erisanog dT</a:t>
            </a: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win modela i </a:t>
            </a:r>
            <a:r>
              <a:rPr lang="en-US" sz="2700" spc="-81">
                <a:solidFill>
                  <a:srgbClr val="006233"/>
                </a:solidFill>
                <a:latin typeface="Open Sauce"/>
                <a:ea typeface="Open Sauce"/>
                <a:cs typeface="Open Sauce"/>
                <a:sym typeface="Open Sauce"/>
              </a:rPr>
              <a:t>simulacionih rezultata.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DAHOpGIYOZs</dc:identifier>
  <dcterms:modified xsi:type="dcterms:W3CDTF">2011-08-01T06:04:30Z</dcterms:modified>
  <cp:revision>1</cp:revision>
  <dc:title>Solar</dc:title>
</cp:coreProperties>
</file>